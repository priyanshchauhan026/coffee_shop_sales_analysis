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0" r:id="rId1"/>
  </p:sldMasterIdLst>
  <p:notesMasterIdLst>
    <p:notesMasterId r:id="rId17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AF8605-ADE9-4BFE-ABD4-DACEF3B003B2}" v="11" dt="2026-04-16T10:00:30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SH CHAUHAN" userId="db84f894382b9e0c" providerId="LiveId" clId="{F5AB5495-5F87-4BDC-9663-0D96EEC79323}"/>
    <pc:docChg chg="undo custSel addSld delSld modSld modMainMaster">
      <pc:chgData name="PRIYANSH CHAUHAN" userId="db84f894382b9e0c" providerId="LiveId" clId="{F5AB5495-5F87-4BDC-9663-0D96EEC79323}" dt="2026-04-16T10:02:16.730" v="64" actId="1076"/>
      <pc:docMkLst>
        <pc:docMk/>
      </pc:docMkLst>
      <pc:sldChg chg="modTransition">
        <pc:chgData name="PRIYANSH CHAUHAN" userId="db84f894382b9e0c" providerId="LiveId" clId="{F5AB5495-5F87-4BDC-9663-0D96EEC79323}" dt="2026-04-16T09:53:37.467" v="54"/>
        <pc:sldMkLst>
          <pc:docMk/>
          <pc:sldMk cId="0" sldId="256"/>
        </pc:sldMkLst>
      </pc:sldChg>
      <pc:sldChg chg="modTransition">
        <pc:chgData name="PRIYANSH CHAUHAN" userId="db84f894382b9e0c" providerId="LiveId" clId="{F5AB5495-5F87-4BDC-9663-0D96EEC79323}" dt="2026-04-16T09:53:37.467" v="54"/>
        <pc:sldMkLst>
          <pc:docMk/>
          <pc:sldMk cId="0" sldId="257"/>
        </pc:sldMkLst>
      </pc:sldChg>
      <pc:sldChg chg="modTransition">
        <pc:chgData name="PRIYANSH CHAUHAN" userId="db84f894382b9e0c" providerId="LiveId" clId="{F5AB5495-5F87-4BDC-9663-0D96EEC79323}" dt="2026-04-16T09:53:37.467" v="54"/>
        <pc:sldMkLst>
          <pc:docMk/>
          <pc:sldMk cId="0" sldId="258"/>
        </pc:sldMkLst>
      </pc:sldChg>
      <pc:sldChg chg="modTransition">
        <pc:chgData name="PRIYANSH CHAUHAN" userId="db84f894382b9e0c" providerId="LiveId" clId="{F5AB5495-5F87-4BDC-9663-0D96EEC79323}" dt="2026-04-16T09:53:37.467" v="54"/>
        <pc:sldMkLst>
          <pc:docMk/>
          <pc:sldMk cId="0" sldId="259"/>
        </pc:sldMkLst>
      </pc:sldChg>
      <pc:sldChg chg="modTransition">
        <pc:chgData name="PRIYANSH CHAUHAN" userId="db84f894382b9e0c" providerId="LiveId" clId="{F5AB5495-5F87-4BDC-9663-0D96EEC79323}" dt="2026-04-16T09:53:37.467" v="54"/>
        <pc:sldMkLst>
          <pc:docMk/>
          <pc:sldMk cId="0" sldId="260"/>
        </pc:sldMkLst>
      </pc:sldChg>
      <pc:sldChg chg="modTransition">
        <pc:chgData name="PRIYANSH CHAUHAN" userId="db84f894382b9e0c" providerId="LiveId" clId="{F5AB5495-5F87-4BDC-9663-0D96EEC79323}" dt="2026-04-16T09:53:37.467" v="54"/>
        <pc:sldMkLst>
          <pc:docMk/>
          <pc:sldMk cId="0" sldId="261"/>
        </pc:sldMkLst>
      </pc:sldChg>
      <pc:sldChg chg="modTransition">
        <pc:chgData name="PRIYANSH CHAUHAN" userId="db84f894382b9e0c" providerId="LiveId" clId="{F5AB5495-5F87-4BDC-9663-0D96EEC79323}" dt="2026-04-16T09:53:37.467" v="54"/>
        <pc:sldMkLst>
          <pc:docMk/>
          <pc:sldMk cId="0" sldId="262"/>
        </pc:sldMkLst>
      </pc:sldChg>
      <pc:sldChg chg="modTransition">
        <pc:chgData name="PRIYANSH CHAUHAN" userId="db84f894382b9e0c" providerId="LiveId" clId="{F5AB5495-5F87-4BDC-9663-0D96EEC79323}" dt="2026-04-16T09:53:37.467" v="54"/>
        <pc:sldMkLst>
          <pc:docMk/>
          <pc:sldMk cId="0" sldId="263"/>
        </pc:sldMkLst>
      </pc:sldChg>
      <pc:sldChg chg="modTransition">
        <pc:chgData name="PRIYANSH CHAUHAN" userId="db84f894382b9e0c" providerId="LiveId" clId="{F5AB5495-5F87-4BDC-9663-0D96EEC79323}" dt="2026-04-16T09:53:37.467" v="54"/>
        <pc:sldMkLst>
          <pc:docMk/>
          <pc:sldMk cId="0" sldId="264"/>
        </pc:sldMkLst>
      </pc:sldChg>
      <pc:sldChg chg="modTransition">
        <pc:chgData name="PRIYANSH CHAUHAN" userId="db84f894382b9e0c" providerId="LiveId" clId="{F5AB5495-5F87-4BDC-9663-0D96EEC79323}" dt="2026-04-16T09:53:37.467" v="54"/>
        <pc:sldMkLst>
          <pc:docMk/>
          <pc:sldMk cId="0" sldId="265"/>
        </pc:sldMkLst>
      </pc:sldChg>
      <pc:sldChg chg="modTransition">
        <pc:chgData name="PRIYANSH CHAUHAN" userId="db84f894382b9e0c" providerId="LiveId" clId="{F5AB5495-5F87-4BDC-9663-0D96EEC79323}" dt="2026-04-16T09:53:37.467" v="54"/>
        <pc:sldMkLst>
          <pc:docMk/>
          <pc:sldMk cId="0" sldId="266"/>
        </pc:sldMkLst>
      </pc:sldChg>
      <pc:sldChg chg="modTransition">
        <pc:chgData name="PRIYANSH CHAUHAN" userId="db84f894382b9e0c" providerId="LiveId" clId="{F5AB5495-5F87-4BDC-9663-0D96EEC79323}" dt="2026-04-16T09:53:37.467" v="54"/>
        <pc:sldMkLst>
          <pc:docMk/>
          <pc:sldMk cId="0" sldId="267"/>
        </pc:sldMkLst>
      </pc:sldChg>
      <pc:sldChg chg="delSp modSp add del mod modTransition setBg">
        <pc:chgData name="PRIYANSH CHAUHAN" userId="db84f894382b9e0c" providerId="LiveId" clId="{F5AB5495-5F87-4BDC-9663-0D96EEC79323}" dt="2026-04-16T10:00:30.633" v="59"/>
        <pc:sldMkLst>
          <pc:docMk/>
          <pc:sldMk cId="0" sldId="268"/>
        </pc:sldMkLst>
        <pc:spChg chg="mod">
          <ac:chgData name="PRIYANSH CHAUHAN" userId="db84f894382b9e0c" providerId="LiveId" clId="{F5AB5495-5F87-4BDC-9663-0D96EEC79323}" dt="2026-04-15T12:18:43.494" v="14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PRIYANSH CHAUHAN" userId="db84f894382b9e0c" providerId="LiveId" clId="{F5AB5495-5F87-4BDC-9663-0D96EEC79323}" dt="2026-04-15T12:18:43.086" v="13" actId="14100"/>
          <ac:spMkLst>
            <pc:docMk/>
            <pc:sldMk cId="0" sldId="268"/>
            <ac:spMk id="5" creationId="{00000000-0000-0000-0000-000000000000}"/>
          </ac:spMkLst>
        </pc:spChg>
        <pc:spChg chg="del mod">
          <ac:chgData name="PRIYANSH CHAUHAN" userId="db84f894382b9e0c" providerId="LiveId" clId="{F5AB5495-5F87-4BDC-9663-0D96EEC79323}" dt="2026-04-16T09:55:03.365" v="55" actId="478"/>
          <ac:spMkLst>
            <pc:docMk/>
            <pc:sldMk cId="0" sldId="268"/>
            <ac:spMk id="34" creationId="{00000000-0000-0000-0000-000000000000}"/>
          </ac:spMkLst>
        </pc:spChg>
        <pc:spChg chg="del mod">
          <ac:chgData name="PRIYANSH CHAUHAN" userId="db84f894382b9e0c" providerId="LiveId" clId="{F5AB5495-5F87-4BDC-9663-0D96EEC79323}" dt="2026-04-16T09:55:03.365" v="55" actId="478"/>
          <ac:spMkLst>
            <pc:docMk/>
            <pc:sldMk cId="0" sldId="268"/>
            <ac:spMk id="35" creationId="{00000000-0000-0000-0000-000000000000}"/>
          </ac:spMkLst>
        </pc:spChg>
        <pc:spChg chg="del mod">
          <ac:chgData name="PRIYANSH CHAUHAN" userId="db84f894382b9e0c" providerId="LiveId" clId="{F5AB5495-5F87-4BDC-9663-0D96EEC79323}" dt="2026-04-16T09:55:03.365" v="55" actId="478"/>
          <ac:spMkLst>
            <pc:docMk/>
            <pc:sldMk cId="0" sldId="268"/>
            <ac:spMk id="36" creationId="{00000000-0000-0000-0000-000000000000}"/>
          </ac:spMkLst>
        </pc:spChg>
        <pc:spChg chg="del mod">
          <ac:chgData name="PRIYANSH CHAUHAN" userId="db84f894382b9e0c" providerId="LiveId" clId="{F5AB5495-5F87-4BDC-9663-0D96EEC79323}" dt="2026-04-16T09:55:03.365" v="55" actId="478"/>
          <ac:spMkLst>
            <pc:docMk/>
            <pc:sldMk cId="0" sldId="268"/>
            <ac:spMk id="37" creationId="{00000000-0000-0000-0000-000000000000}"/>
          </ac:spMkLst>
        </pc:spChg>
      </pc:sldChg>
      <pc:sldChg chg="delSp modSp mod modTransition">
        <pc:chgData name="PRIYANSH CHAUHAN" userId="db84f894382b9e0c" providerId="LiveId" clId="{F5AB5495-5F87-4BDC-9663-0D96EEC79323}" dt="2026-04-16T10:02:16.730" v="64" actId="1076"/>
        <pc:sldMkLst>
          <pc:docMk/>
          <pc:sldMk cId="0" sldId="269"/>
        </pc:sldMkLst>
        <pc:spChg chg="mod">
          <ac:chgData name="PRIYANSH CHAUHAN" userId="db84f894382b9e0c" providerId="LiveId" clId="{F5AB5495-5F87-4BDC-9663-0D96EEC79323}" dt="2026-04-15T12:15:45.682" v="1" actId="1076"/>
          <ac:spMkLst>
            <pc:docMk/>
            <pc:sldMk cId="0" sldId="269"/>
            <ac:spMk id="2" creationId="{00000000-0000-0000-0000-000000000000}"/>
          </ac:spMkLst>
        </pc:spChg>
        <pc:spChg chg="del mod">
          <ac:chgData name="PRIYANSH CHAUHAN" userId="db84f894382b9e0c" providerId="LiveId" clId="{F5AB5495-5F87-4BDC-9663-0D96EEC79323}" dt="2026-04-16T10:02:01.174" v="62" actId="478"/>
          <ac:spMkLst>
            <pc:docMk/>
            <pc:sldMk cId="0" sldId="269"/>
            <ac:spMk id="3" creationId="{00000000-0000-0000-0000-000000000000}"/>
          </ac:spMkLst>
        </pc:spChg>
        <pc:spChg chg="mod">
          <ac:chgData name="PRIYANSH CHAUHAN" userId="db84f894382b9e0c" providerId="LiveId" clId="{F5AB5495-5F87-4BDC-9663-0D96EEC79323}" dt="2026-04-16T10:02:16.730" v="64" actId="1076"/>
          <ac:spMkLst>
            <pc:docMk/>
            <pc:sldMk cId="0" sldId="269"/>
            <ac:spMk id="7" creationId="{00000000-0000-0000-0000-000000000000}"/>
          </ac:spMkLst>
        </pc:spChg>
        <pc:spChg chg="del">
          <ac:chgData name="PRIYANSH CHAUHAN" userId="db84f894382b9e0c" providerId="LiveId" clId="{F5AB5495-5F87-4BDC-9663-0D96EEC79323}" dt="2026-04-16T10:01:34.552" v="60" actId="478"/>
          <ac:spMkLst>
            <pc:docMk/>
            <pc:sldMk cId="0" sldId="269"/>
            <ac:spMk id="8" creationId="{00000000-0000-0000-0000-000000000000}"/>
          </ac:spMkLst>
        </pc:spChg>
        <pc:spChg chg="del">
          <ac:chgData name="PRIYANSH CHAUHAN" userId="db84f894382b9e0c" providerId="LiveId" clId="{F5AB5495-5F87-4BDC-9663-0D96EEC79323}" dt="2026-04-16T10:01:34.552" v="60" actId="478"/>
          <ac:spMkLst>
            <pc:docMk/>
            <pc:sldMk cId="0" sldId="269"/>
            <ac:spMk id="9" creationId="{00000000-0000-0000-0000-000000000000}"/>
          </ac:spMkLst>
        </pc:spChg>
      </pc:sldChg>
      <pc:sldChg chg="modSp mod modTransition">
        <pc:chgData name="PRIYANSH CHAUHAN" userId="db84f894382b9e0c" providerId="LiveId" clId="{F5AB5495-5F87-4BDC-9663-0D96EEC79323}" dt="2026-04-16T09:53:37.467" v="54"/>
        <pc:sldMkLst>
          <pc:docMk/>
          <pc:sldMk cId="1678234417" sldId="271"/>
        </pc:sldMkLst>
        <pc:spChg chg="mod">
          <ac:chgData name="PRIYANSH CHAUHAN" userId="db84f894382b9e0c" providerId="LiveId" clId="{F5AB5495-5F87-4BDC-9663-0D96EEC79323}" dt="2026-04-16T09:51:23.039" v="47" actId="1076"/>
          <ac:spMkLst>
            <pc:docMk/>
            <pc:sldMk cId="1678234417" sldId="271"/>
            <ac:spMk id="2" creationId="{EDBE1890-4AC2-6E48-F3B8-D39C4E2E14C4}"/>
          </ac:spMkLst>
        </pc:spChg>
        <pc:spChg chg="mod">
          <ac:chgData name="PRIYANSH CHAUHAN" userId="db84f894382b9e0c" providerId="LiveId" clId="{F5AB5495-5F87-4BDC-9663-0D96EEC79323}" dt="2026-04-16T09:51:57.311" v="49" actId="123"/>
          <ac:spMkLst>
            <pc:docMk/>
            <pc:sldMk cId="1678234417" sldId="271"/>
            <ac:spMk id="4" creationId="{FA72027F-933F-0AFC-B50B-F8479B44368A}"/>
          </ac:spMkLst>
        </pc:spChg>
        <pc:spChg chg="mod">
          <ac:chgData name="PRIYANSH CHAUHAN" userId="db84f894382b9e0c" providerId="LiveId" clId="{F5AB5495-5F87-4BDC-9663-0D96EEC79323}" dt="2026-04-16T09:52:55.469" v="52" actId="108"/>
          <ac:spMkLst>
            <pc:docMk/>
            <pc:sldMk cId="1678234417" sldId="271"/>
            <ac:spMk id="8" creationId="{C8F47C66-960F-3F72-B349-D4B3E2B03990}"/>
          </ac:spMkLst>
        </pc:spChg>
        <pc:picChg chg="mod">
          <ac:chgData name="PRIYANSH CHAUHAN" userId="db84f894382b9e0c" providerId="LiveId" clId="{F5AB5495-5F87-4BDC-9663-0D96EEC79323}" dt="2026-04-16T09:53:17.208" v="53" actId="14100"/>
          <ac:picMkLst>
            <pc:docMk/>
            <pc:sldMk cId="1678234417" sldId="271"/>
            <ac:picMk id="1026" creationId="{2DC65ECC-421C-40FC-4E0A-36664315F980}"/>
          </ac:picMkLst>
        </pc:picChg>
      </pc:sldChg>
      <pc:sldChg chg="add del">
        <pc:chgData name="PRIYANSH CHAUHAN" userId="db84f894382b9e0c" providerId="LiveId" clId="{F5AB5495-5F87-4BDC-9663-0D96EEC79323}" dt="2026-04-16T10:00:23.166" v="57" actId="47"/>
        <pc:sldMkLst>
          <pc:docMk/>
          <pc:sldMk cId="4184373445" sldId="272"/>
        </pc:sldMkLst>
      </pc:sldChg>
      <pc:sldMasterChg chg="modSldLayout">
        <pc:chgData name="PRIYANSH CHAUHAN" userId="db84f894382b9e0c" providerId="LiveId" clId="{F5AB5495-5F87-4BDC-9663-0D96EEC79323}" dt="2026-04-15T12:15:22.575" v="0"/>
        <pc:sldMasterMkLst>
          <pc:docMk/>
          <pc:sldMasterMk cId="2785065425" sldId="2147483689"/>
        </pc:sldMasterMkLst>
        <pc:sldLayoutChg chg="modTransition">
          <pc:chgData name="PRIYANSH CHAUHAN" userId="db84f894382b9e0c" providerId="LiveId" clId="{F5AB5495-5F87-4BDC-9663-0D96EEC79323}" dt="2026-04-15T12:15:22.575" v="0"/>
          <pc:sldLayoutMkLst>
            <pc:docMk/>
            <pc:sldMasterMk cId="2785065425" sldId="2147483689"/>
            <pc:sldLayoutMk cId="246377054" sldId="2147483690"/>
          </pc:sldLayoutMkLst>
        </pc:sldLayoutChg>
      </pc:sldMasterChg>
      <pc:sldMasterChg chg="modTransition modSldLayout">
        <pc:chgData name="PRIYANSH CHAUHAN" userId="db84f894382b9e0c" providerId="LiveId" clId="{F5AB5495-5F87-4BDC-9663-0D96EEC79323}" dt="2026-04-15T12:23:14.891" v="32"/>
        <pc:sldMasterMkLst>
          <pc:docMk/>
          <pc:sldMasterMk cId="2949227717" sldId="2147483708"/>
        </pc:sldMasterMkLst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3041519536" sldId="2147483709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2310773294" sldId="2147483710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3924392823" sldId="2147483711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3209952496" sldId="2147483712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3638234838" sldId="2147483713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1524149954" sldId="2147483714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2024467124" sldId="2147483715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2810508091" sldId="2147483716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686255871" sldId="2147483717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2443543796" sldId="2147483718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32220237" sldId="2147483719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224818882" sldId="2147483720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2814650277" sldId="2147483721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364832660" sldId="2147483722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3985167475" sldId="2147483723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2275619675" sldId="2147483724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4087682221" sldId="2147483725"/>
          </pc:sldLayoutMkLst>
        </pc:sldLayoutChg>
        <pc:sldLayoutChg chg="modTransition">
          <pc:chgData name="PRIYANSH CHAUHAN" userId="db84f894382b9e0c" providerId="LiveId" clId="{F5AB5495-5F87-4BDC-9663-0D96EEC79323}" dt="2026-04-15T12:23:14.891" v="32"/>
          <pc:sldLayoutMkLst>
            <pc:docMk/>
            <pc:sldMasterMk cId="2949227717" sldId="2147483708"/>
            <pc:sldLayoutMk cId="14268505" sldId="2147483726"/>
          </pc:sldLayoutMkLst>
        </pc:sldLayoutChg>
      </pc:sldMasterChg>
      <pc:sldMasterChg chg="modTransition modSldLayout">
        <pc:chgData name="PRIYANSH CHAUHAN" userId="db84f894382b9e0c" providerId="LiveId" clId="{F5AB5495-5F87-4BDC-9663-0D96EEC79323}" dt="2026-04-16T09:48:13.482" v="33"/>
        <pc:sldMasterMkLst>
          <pc:docMk/>
          <pc:sldMasterMk cId="2732403446" sldId="2147483727"/>
        </pc:sldMasterMkLst>
        <pc:sldLayoutChg chg="modTransition">
          <pc:chgData name="PRIYANSH CHAUHAN" userId="db84f894382b9e0c" providerId="LiveId" clId="{F5AB5495-5F87-4BDC-9663-0D96EEC79323}" dt="2026-04-16T09:48:13.482" v="33"/>
          <pc:sldLayoutMkLst>
            <pc:docMk/>
            <pc:sldMasterMk cId="2732403446" sldId="2147483727"/>
            <pc:sldLayoutMk cId="2053637439" sldId="2147483728"/>
          </pc:sldLayoutMkLst>
        </pc:sldLayoutChg>
        <pc:sldLayoutChg chg="modTransition">
          <pc:chgData name="PRIYANSH CHAUHAN" userId="db84f894382b9e0c" providerId="LiveId" clId="{F5AB5495-5F87-4BDC-9663-0D96EEC79323}" dt="2026-04-16T09:48:13.482" v="33"/>
          <pc:sldLayoutMkLst>
            <pc:docMk/>
            <pc:sldMasterMk cId="2732403446" sldId="2147483727"/>
            <pc:sldLayoutMk cId="1674468139" sldId="2147483729"/>
          </pc:sldLayoutMkLst>
        </pc:sldLayoutChg>
        <pc:sldLayoutChg chg="modTransition">
          <pc:chgData name="PRIYANSH CHAUHAN" userId="db84f894382b9e0c" providerId="LiveId" clId="{F5AB5495-5F87-4BDC-9663-0D96EEC79323}" dt="2026-04-16T09:48:13.482" v="33"/>
          <pc:sldLayoutMkLst>
            <pc:docMk/>
            <pc:sldMasterMk cId="2732403446" sldId="2147483727"/>
            <pc:sldLayoutMk cId="2386701994" sldId="2147483730"/>
          </pc:sldLayoutMkLst>
        </pc:sldLayoutChg>
        <pc:sldLayoutChg chg="modTransition">
          <pc:chgData name="PRIYANSH CHAUHAN" userId="db84f894382b9e0c" providerId="LiveId" clId="{F5AB5495-5F87-4BDC-9663-0D96EEC79323}" dt="2026-04-16T09:48:13.482" v="33"/>
          <pc:sldLayoutMkLst>
            <pc:docMk/>
            <pc:sldMasterMk cId="2732403446" sldId="2147483727"/>
            <pc:sldLayoutMk cId="3446969269" sldId="2147483731"/>
          </pc:sldLayoutMkLst>
        </pc:sldLayoutChg>
        <pc:sldLayoutChg chg="modTransition">
          <pc:chgData name="PRIYANSH CHAUHAN" userId="db84f894382b9e0c" providerId="LiveId" clId="{F5AB5495-5F87-4BDC-9663-0D96EEC79323}" dt="2026-04-16T09:48:13.482" v="33"/>
          <pc:sldLayoutMkLst>
            <pc:docMk/>
            <pc:sldMasterMk cId="2732403446" sldId="2147483727"/>
            <pc:sldLayoutMk cId="301955188" sldId="2147483732"/>
          </pc:sldLayoutMkLst>
        </pc:sldLayoutChg>
        <pc:sldLayoutChg chg="modTransition">
          <pc:chgData name="PRIYANSH CHAUHAN" userId="db84f894382b9e0c" providerId="LiveId" clId="{F5AB5495-5F87-4BDC-9663-0D96EEC79323}" dt="2026-04-16T09:48:13.482" v="33"/>
          <pc:sldLayoutMkLst>
            <pc:docMk/>
            <pc:sldMasterMk cId="2732403446" sldId="2147483727"/>
            <pc:sldLayoutMk cId="1981872526" sldId="2147483733"/>
          </pc:sldLayoutMkLst>
        </pc:sldLayoutChg>
        <pc:sldLayoutChg chg="modTransition">
          <pc:chgData name="PRIYANSH CHAUHAN" userId="db84f894382b9e0c" providerId="LiveId" clId="{F5AB5495-5F87-4BDC-9663-0D96EEC79323}" dt="2026-04-16T09:48:13.482" v="33"/>
          <pc:sldLayoutMkLst>
            <pc:docMk/>
            <pc:sldMasterMk cId="2732403446" sldId="2147483727"/>
            <pc:sldLayoutMk cId="2145354413" sldId="2147483734"/>
          </pc:sldLayoutMkLst>
        </pc:sldLayoutChg>
        <pc:sldLayoutChg chg="modTransition">
          <pc:chgData name="PRIYANSH CHAUHAN" userId="db84f894382b9e0c" providerId="LiveId" clId="{F5AB5495-5F87-4BDC-9663-0D96EEC79323}" dt="2026-04-16T09:48:13.482" v="33"/>
          <pc:sldLayoutMkLst>
            <pc:docMk/>
            <pc:sldMasterMk cId="2732403446" sldId="2147483727"/>
            <pc:sldLayoutMk cId="2572508543" sldId="2147483735"/>
          </pc:sldLayoutMkLst>
        </pc:sldLayoutChg>
        <pc:sldLayoutChg chg="modTransition">
          <pc:chgData name="PRIYANSH CHAUHAN" userId="db84f894382b9e0c" providerId="LiveId" clId="{F5AB5495-5F87-4BDC-9663-0D96EEC79323}" dt="2026-04-16T09:48:13.482" v="33"/>
          <pc:sldLayoutMkLst>
            <pc:docMk/>
            <pc:sldMasterMk cId="2732403446" sldId="2147483727"/>
            <pc:sldLayoutMk cId="672275177" sldId="2147483736"/>
          </pc:sldLayoutMkLst>
        </pc:sldLayoutChg>
        <pc:sldLayoutChg chg="modTransition">
          <pc:chgData name="PRIYANSH CHAUHAN" userId="db84f894382b9e0c" providerId="LiveId" clId="{F5AB5495-5F87-4BDC-9663-0D96EEC79323}" dt="2026-04-16T09:48:13.482" v="33"/>
          <pc:sldLayoutMkLst>
            <pc:docMk/>
            <pc:sldMasterMk cId="2732403446" sldId="2147483727"/>
            <pc:sldLayoutMk cId="3522652537" sldId="2147483737"/>
          </pc:sldLayoutMkLst>
        </pc:sldLayoutChg>
        <pc:sldLayoutChg chg="modTransition">
          <pc:chgData name="PRIYANSH CHAUHAN" userId="db84f894382b9e0c" providerId="LiveId" clId="{F5AB5495-5F87-4BDC-9663-0D96EEC79323}" dt="2026-04-16T09:48:13.482" v="33"/>
          <pc:sldLayoutMkLst>
            <pc:docMk/>
            <pc:sldMasterMk cId="2732403446" sldId="2147483727"/>
            <pc:sldLayoutMk cId="232776802" sldId="2147483738"/>
          </pc:sldLayoutMkLst>
        </pc:sldLayoutChg>
      </pc:sldMasterChg>
      <pc:sldMasterChg chg="modTransition modSldLayout">
        <pc:chgData name="PRIYANSH CHAUHAN" userId="db84f894382b9e0c" providerId="LiveId" clId="{F5AB5495-5F87-4BDC-9663-0D96EEC79323}" dt="2026-04-16T09:53:37.467" v="54"/>
        <pc:sldMasterMkLst>
          <pc:docMk/>
          <pc:sldMasterMk cId="2951601355" sldId="2147483740"/>
        </pc:sldMasterMkLst>
        <pc:sldLayoutChg chg="modTransition">
          <pc:chgData name="PRIYANSH CHAUHAN" userId="db84f894382b9e0c" providerId="LiveId" clId="{F5AB5495-5F87-4BDC-9663-0D96EEC79323}" dt="2026-04-16T09:53:37.467" v="54"/>
          <pc:sldLayoutMkLst>
            <pc:docMk/>
            <pc:sldMasterMk cId="2951601355" sldId="2147483740"/>
            <pc:sldLayoutMk cId="5314504" sldId="2147483741"/>
          </pc:sldLayoutMkLst>
        </pc:sldLayoutChg>
        <pc:sldLayoutChg chg="modTransition">
          <pc:chgData name="PRIYANSH CHAUHAN" userId="db84f894382b9e0c" providerId="LiveId" clId="{F5AB5495-5F87-4BDC-9663-0D96EEC79323}" dt="2026-04-16T09:53:37.467" v="54"/>
          <pc:sldLayoutMkLst>
            <pc:docMk/>
            <pc:sldMasterMk cId="2951601355" sldId="2147483740"/>
            <pc:sldLayoutMk cId="2746643817" sldId="2147483742"/>
          </pc:sldLayoutMkLst>
        </pc:sldLayoutChg>
        <pc:sldLayoutChg chg="modTransition">
          <pc:chgData name="PRIYANSH CHAUHAN" userId="db84f894382b9e0c" providerId="LiveId" clId="{F5AB5495-5F87-4BDC-9663-0D96EEC79323}" dt="2026-04-16T09:53:37.467" v="54"/>
          <pc:sldLayoutMkLst>
            <pc:docMk/>
            <pc:sldMasterMk cId="2951601355" sldId="2147483740"/>
            <pc:sldLayoutMk cId="3517065706" sldId="2147483743"/>
          </pc:sldLayoutMkLst>
        </pc:sldLayoutChg>
        <pc:sldLayoutChg chg="modTransition">
          <pc:chgData name="PRIYANSH CHAUHAN" userId="db84f894382b9e0c" providerId="LiveId" clId="{F5AB5495-5F87-4BDC-9663-0D96EEC79323}" dt="2026-04-16T09:53:37.467" v="54"/>
          <pc:sldLayoutMkLst>
            <pc:docMk/>
            <pc:sldMasterMk cId="2951601355" sldId="2147483740"/>
            <pc:sldLayoutMk cId="4175621729" sldId="2147483744"/>
          </pc:sldLayoutMkLst>
        </pc:sldLayoutChg>
        <pc:sldLayoutChg chg="modTransition">
          <pc:chgData name="PRIYANSH CHAUHAN" userId="db84f894382b9e0c" providerId="LiveId" clId="{F5AB5495-5F87-4BDC-9663-0D96EEC79323}" dt="2026-04-16T09:53:37.467" v="54"/>
          <pc:sldLayoutMkLst>
            <pc:docMk/>
            <pc:sldMasterMk cId="2951601355" sldId="2147483740"/>
            <pc:sldLayoutMk cId="849153520" sldId="2147483745"/>
          </pc:sldLayoutMkLst>
        </pc:sldLayoutChg>
        <pc:sldLayoutChg chg="modTransition">
          <pc:chgData name="PRIYANSH CHAUHAN" userId="db84f894382b9e0c" providerId="LiveId" clId="{F5AB5495-5F87-4BDC-9663-0D96EEC79323}" dt="2026-04-16T09:53:37.467" v="54"/>
          <pc:sldLayoutMkLst>
            <pc:docMk/>
            <pc:sldMasterMk cId="2951601355" sldId="2147483740"/>
            <pc:sldLayoutMk cId="424768523" sldId="2147483746"/>
          </pc:sldLayoutMkLst>
        </pc:sldLayoutChg>
        <pc:sldLayoutChg chg="modTransition">
          <pc:chgData name="PRIYANSH CHAUHAN" userId="db84f894382b9e0c" providerId="LiveId" clId="{F5AB5495-5F87-4BDC-9663-0D96EEC79323}" dt="2026-04-16T09:53:37.467" v="54"/>
          <pc:sldLayoutMkLst>
            <pc:docMk/>
            <pc:sldMasterMk cId="2951601355" sldId="2147483740"/>
            <pc:sldLayoutMk cId="3482695028" sldId="2147483747"/>
          </pc:sldLayoutMkLst>
        </pc:sldLayoutChg>
        <pc:sldLayoutChg chg="modTransition">
          <pc:chgData name="PRIYANSH CHAUHAN" userId="db84f894382b9e0c" providerId="LiveId" clId="{F5AB5495-5F87-4BDC-9663-0D96EEC79323}" dt="2026-04-16T09:53:37.467" v="54"/>
          <pc:sldLayoutMkLst>
            <pc:docMk/>
            <pc:sldMasterMk cId="2951601355" sldId="2147483740"/>
            <pc:sldLayoutMk cId="981221051" sldId="2147483748"/>
          </pc:sldLayoutMkLst>
        </pc:sldLayoutChg>
        <pc:sldLayoutChg chg="modTransition">
          <pc:chgData name="PRIYANSH CHAUHAN" userId="db84f894382b9e0c" providerId="LiveId" clId="{F5AB5495-5F87-4BDC-9663-0D96EEC79323}" dt="2026-04-16T09:53:37.467" v="54"/>
          <pc:sldLayoutMkLst>
            <pc:docMk/>
            <pc:sldMasterMk cId="2951601355" sldId="2147483740"/>
            <pc:sldLayoutMk cId="449750416" sldId="2147483749"/>
          </pc:sldLayoutMkLst>
        </pc:sldLayoutChg>
        <pc:sldLayoutChg chg="modTransition">
          <pc:chgData name="PRIYANSH CHAUHAN" userId="db84f894382b9e0c" providerId="LiveId" clId="{F5AB5495-5F87-4BDC-9663-0D96EEC79323}" dt="2026-04-16T09:53:37.467" v="54"/>
          <pc:sldLayoutMkLst>
            <pc:docMk/>
            <pc:sldMasterMk cId="2951601355" sldId="2147483740"/>
            <pc:sldLayoutMk cId="2670018532" sldId="2147483750"/>
          </pc:sldLayoutMkLst>
        </pc:sldLayoutChg>
        <pc:sldLayoutChg chg="modTransition">
          <pc:chgData name="PRIYANSH CHAUHAN" userId="db84f894382b9e0c" providerId="LiveId" clId="{F5AB5495-5F87-4BDC-9663-0D96EEC79323}" dt="2026-04-16T09:53:37.467" v="54"/>
          <pc:sldLayoutMkLst>
            <pc:docMk/>
            <pc:sldMasterMk cId="2951601355" sldId="2147483740"/>
            <pc:sldLayoutMk cId="2319100920" sldId="2147483751"/>
          </pc:sldLayoutMkLst>
        </pc:sldLayoutChg>
        <pc:sldLayoutChg chg="modTransition">
          <pc:chgData name="PRIYANSH CHAUHAN" userId="db84f894382b9e0c" providerId="LiveId" clId="{F5AB5495-5F87-4BDC-9663-0D96EEC79323}" dt="2026-04-16T09:53:37.467" v="54"/>
          <pc:sldLayoutMkLst>
            <pc:docMk/>
            <pc:sldMasterMk cId="2951601355" sldId="2147483740"/>
            <pc:sldLayoutMk cId="1148001493" sldId="2147483752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0A0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A0A00"/>
                </a:solidFill>
                <a:latin typeface="Arial"/>
              </a:rPr>
              <a:t>Revenue by Product Category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%</c:v>
                </c:pt>
              </c:strCache>
            </c:strRef>
          </c:tx>
          <c:spPr>
            <a:solidFill>
              <a:srgbClr val="3D1C0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935-4BDC-8396-9116AD9658EC}"/>
              </c:ext>
            </c:extLst>
          </c:dPt>
          <c:dPt>
            <c:idx val="1"/>
            <c:invertIfNegative val="0"/>
            <c:bubble3D val="0"/>
            <c:spPr>
              <a:solidFill>
                <a:srgbClr val="6B3A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935-4BDC-8396-9116AD9658EC}"/>
              </c:ext>
            </c:extLst>
          </c:dPt>
          <c:dPt>
            <c:idx val="2"/>
            <c:invertIfNegative val="0"/>
            <c:bubble3D val="0"/>
            <c:spPr>
              <a:solidFill>
                <a:srgbClr val="C47B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935-4BDC-8396-9116AD9658EC}"/>
              </c:ext>
            </c:extLst>
          </c:dPt>
          <c:dPt>
            <c:idx val="3"/>
            <c:invertIfNegative val="0"/>
            <c:bubble3D val="0"/>
            <c:spPr>
              <a:solidFill>
                <a:srgbClr val="0D6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935-4BDC-8396-9116AD9658EC}"/>
              </c:ext>
            </c:extLst>
          </c:dPt>
          <c:dPt>
            <c:idx val="4"/>
            <c:invertIfNegative val="0"/>
            <c:bubble3D val="0"/>
            <c:spPr>
              <a:solidFill>
                <a:srgbClr val="8B5E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935-4BDC-8396-9116AD9658EC}"/>
              </c:ext>
            </c:extLst>
          </c:dPt>
          <c:dPt>
            <c:idx val="5"/>
            <c:invertIfNegative val="0"/>
            <c:bubble3D val="0"/>
            <c:spPr>
              <a:solidFill>
                <a:srgbClr val="A890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935-4BDC-8396-9116AD9658E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0A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Choc.</c:v>
                </c:pt>
                <c:pt idx="4">
                  <c:v>Coffee Beans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</c:v>
                </c:pt>
                <c:pt idx="1">
                  <c:v>28</c:v>
                </c:pt>
                <c:pt idx="2">
                  <c:v>12</c:v>
                </c:pt>
                <c:pt idx="3">
                  <c:v>10</c:v>
                </c:pt>
                <c:pt idx="4">
                  <c:v>6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935-4BDC-8396-9116AD9658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0A00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1A0A00"/>
                </a:solidFill>
                <a:latin typeface="Arial"/>
              </a:rPr>
              <a:t>Monthly Revenue Growth (Jan–Jun 2023)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($)</c:v>
                </c:pt>
              </c:strCache>
            </c:strRef>
          </c:tx>
          <c:spPr>
            <a:ln w="31750" cap="flat">
              <a:solidFill>
                <a:srgbClr val="C47B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47B2B"/>
              </a:solidFill>
              <a:ln w="9525" cap="flat">
                <a:solidFill>
                  <a:srgbClr val="C47B2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81677</c:v>
                </c:pt>
                <c:pt idx="1">
                  <c:v>95948</c:v>
                </c:pt>
                <c:pt idx="2">
                  <c:v>108052</c:v>
                </c:pt>
                <c:pt idx="3">
                  <c:v>118941</c:v>
                </c:pt>
                <c:pt idx="4">
                  <c:v>156271</c:v>
                </c:pt>
                <c:pt idx="5">
                  <c:v>166486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8E4-4F09-A08A-2483F5BAC9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7273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E920-46C5-408F-B29D-ED5C452C9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56AE6-990F-4F9E-EB33-6583C540C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250AA-AFC6-346B-6567-19EE15E4C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60BE5-5835-8FA0-D207-F31A8351B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FD43C-EC71-69E9-2199-20F46CDF8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EF6A-48EC-9CD0-43C5-D2B97C8E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F30AC-76C4-D9CD-588C-E31F27A36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2BB8D-F417-4E72-6BB2-26C1F384B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3503A-5EC0-430D-7DDF-5CE90466B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6BA9F-D0E0-F4D4-F504-B73BDCEDC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643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C36DB-9973-6A44-2EFE-533D41549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92DAB-CA1C-34B5-A0DC-6BBE0F3F9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CAC03-0818-A7AD-021B-6582D01AD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C16F7-BD5F-2974-6C5E-E99270403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93732-DB95-F336-8E70-D61477E5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065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FC81-0C9C-4EA6-A6A6-6CE755FE3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73AF6-A480-0C7C-1A17-0D1535913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356FA-84D0-3D18-9745-8828AEE1A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0EE29-CF75-7732-030D-DE969E455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BF97D-97A7-EDDD-AAF3-53866600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3AD5D-4EAC-514E-9451-A9C339479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621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D0C5-0DDD-D60D-3692-FD990C6B1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7125A-6623-1359-3222-45E5E79DB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AA176F-6174-120F-50DD-82DA47F13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E64A9-AEF8-28F4-81E3-5D14784FA8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32BAE5-1AA4-16B7-3FD1-D6A3F3617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524AB9-4173-BB51-8A21-F61003124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5AC213-E52A-CB83-25E6-9BB190D55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39F466-0A85-14EC-7BDE-E0FC3101C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153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8C54-8068-48E0-681B-331E4672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F53199-46C3-F25D-D429-2FDE7747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59E334-0685-B779-CD5F-01BEC4362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9C3645-FD61-339E-1D07-75D8C57BE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68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AF4FF1-2B29-0D2F-BFA4-C09E1E139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1551BD-E49B-3043-937D-166D13BE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B646D-DE77-B600-AB9A-AAD9D089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695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1F76E-4423-6FE1-928F-DA3050034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D6869-F703-B1CC-A520-2185D3F32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0912F-07AD-C539-DB80-06E753F8B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69DE5-1DC4-1A60-BD4D-8857FB572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56E77-8569-1E01-DAF4-371C81A9E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5B55D-9402-D7D1-B3AA-031FF871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221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EECC-DF8F-E79D-5E32-335C944F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048585-F0F8-187D-651A-FFBB3A89B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A4B69-772E-C735-A2CD-29FB3BCBC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3C402-86A4-FB9F-5791-DC73CB36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41E0E-DF4D-D6AF-460B-63EEB30A9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A5D66-7278-A464-1738-F6DA814D8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50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9B2F0-C164-1F65-A3F5-91856FCEF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06969-9F39-3DB8-C36B-206498A79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7EA53-003F-62D1-C1F6-6894983C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3F735-0D47-55A9-7A2F-6C45BAEF2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0E6BB-7DC6-10C4-D613-A29407B7A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018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719917-1A8F-E393-530D-6E43130C2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DBB7C-49A2-CA71-81A1-3C4782D4C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13060-4475-F4C7-4CEB-A45EE7EDF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A7B8F-C9EE-9555-9A3B-D2B0D1087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A5913-5F8A-A6C2-359E-E8D51D51B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100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8001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991E20-7547-2B13-6071-53BB6C10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5B360-A51D-918E-EA10-93B1DC4C5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A8E01-FF8F-570A-9959-C21D2B658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379D7-3148-D9C5-0178-8E3F14A34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344CE-16E4-833B-261D-2AA0B7783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60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E1890-4AC2-6E48-F3B8-D39C4E2E1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2711" y="1769288"/>
            <a:ext cx="4257768" cy="552201"/>
          </a:xfrm>
        </p:spPr>
        <p:txBody>
          <a:bodyPr>
            <a:noAutofit/>
          </a:bodyPr>
          <a:lstStyle/>
          <a:p>
            <a:pPr algn="l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Coffee Shop Sales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AB5B4-9DA6-96E5-2710-80BD8CB824BC}"/>
              </a:ext>
            </a:extLst>
          </p:cNvPr>
          <p:cNvSpPr txBox="1"/>
          <p:nvPr/>
        </p:nvSpPr>
        <p:spPr>
          <a:xfrm>
            <a:off x="2771774" y="326776"/>
            <a:ext cx="337964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  <a:endParaRPr lang="en-IN" sz="4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C65ECC-421C-40FC-4E0A-36664315F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" y="107156"/>
            <a:ext cx="985838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0058C39-0BB4-56FA-D8AE-8539F7D92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987" y="107156"/>
            <a:ext cx="2386013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72027F-933F-0AFC-B50B-F8479B44368A}"/>
              </a:ext>
            </a:extLst>
          </p:cNvPr>
          <p:cNvSpPr txBox="1"/>
          <p:nvPr/>
        </p:nvSpPr>
        <p:spPr>
          <a:xfrm>
            <a:off x="208280" y="3421397"/>
            <a:ext cx="253519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/>
            </a:lvl1pPr>
          </a:lstStyle>
          <a:p>
            <a:r>
              <a:rPr lang="en-GB" sz="1800" b="1" dirty="0"/>
              <a:t>Presented By:</a:t>
            </a:r>
            <a:r>
              <a:rPr lang="en-GB" sz="1100" dirty="0"/>
              <a:t> </a:t>
            </a:r>
          </a:p>
          <a:p>
            <a:endParaRPr lang="en-GB" sz="1100" dirty="0"/>
          </a:p>
          <a:p>
            <a:pPr algn="just"/>
            <a:r>
              <a:rPr lang="en-GB" sz="1100" dirty="0"/>
              <a:t>Student Name: Priyansh Chauhan</a:t>
            </a:r>
          </a:p>
          <a:p>
            <a:pPr algn="just"/>
            <a:r>
              <a:rPr lang="en-GB" sz="1100" dirty="0"/>
              <a:t> </a:t>
            </a:r>
          </a:p>
          <a:p>
            <a:pPr algn="just"/>
            <a:r>
              <a:rPr lang="en-GB" sz="1100" dirty="0"/>
              <a:t>En. No: 202126940008</a:t>
            </a:r>
          </a:p>
          <a:p>
            <a:pPr algn="just"/>
            <a:endParaRPr lang="en-GB" sz="1100" dirty="0"/>
          </a:p>
          <a:p>
            <a:pPr algn="just"/>
            <a:r>
              <a:rPr lang="en-GB" sz="1100" dirty="0"/>
              <a:t>Semester: 10th</a:t>
            </a:r>
            <a:endParaRPr lang="en-IN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47C66-960F-3F72-B349-D4B3E2B03990}"/>
              </a:ext>
            </a:extLst>
          </p:cNvPr>
          <p:cNvSpPr txBox="1"/>
          <p:nvPr/>
        </p:nvSpPr>
        <p:spPr>
          <a:xfrm>
            <a:off x="6807745" y="3421397"/>
            <a:ext cx="2286496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Guided By:</a:t>
            </a:r>
            <a:r>
              <a:rPr lang="en-GB" dirty="0"/>
              <a:t> </a:t>
            </a:r>
          </a:p>
          <a:p>
            <a:endParaRPr lang="en-GB" sz="1200" dirty="0"/>
          </a:p>
          <a:p>
            <a:pPr algn="just"/>
            <a:r>
              <a:rPr lang="en-GB" sz="1100" dirty="0"/>
              <a:t>Meera Mangukiya</a:t>
            </a:r>
          </a:p>
          <a:p>
            <a:pPr algn="just"/>
            <a:endParaRPr lang="en-GB" sz="1100" dirty="0"/>
          </a:p>
          <a:p>
            <a:pPr algn="just"/>
            <a:r>
              <a:rPr lang="en-IN" sz="1100" dirty="0"/>
              <a:t>Maxgen Technologies Pvt. Ltd.</a:t>
            </a:r>
          </a:p>
        </p:txBody>
      </p:sp>
    </p:spTree>
    <p:extLst>
      <p:ext uri="{BB962C8B-B14F-4D97-AF65-F5344CB8AC3E}">
        <p14:creationId xmlns:p14="http://schemas.microsoft.com/office/powerpoint/2010/main" val="1678234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07592"/>
            <a:ext cx="2103120" cy="2103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291840"/>
            <a:ext cx="1097280" cy="1097280"/>
          </a:xfrm>
          <a:prstGeom prst="line">
            <a:avLst/>
          </a:prstGeom>
          <a:solidFill>
            <a:srgbClr val="C47B2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0" y="3931920"/>
            <a:ext cx="640080" cy="640080"/>
          </a:xfrm>
          <a:prstGeom prst="line">
            <a:avLst/>
          </a:prstGeom>
          <a:solidFill>
            <a:srgbClr val="C47B2B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389120" y="130629"/>
            <a:ext cx="4480560" cy="1067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 SHOP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4389120" y="1014984"/>
            <a:ext cx="448056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400" dirty="0">
                <a:solidFill>
                  <a:srgbClr val="C47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ANALYSIS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4389120" y="2240280"/>
            <a:ext cx="4480560" cy="36576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389120" y="235915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Data Analytics Project Report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89120" y="2880360"/>
            <a:ext cx="1078992" cy="804672"/>
          </a:xfrm>
          <a:prstGeom prst="rect">
            <a:avLst/>
          </a:prstGeom>
          <a:solidFill>
            <a:srgbClr val="C47B2B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389120" y="290779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149K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389120" y="32918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144768" y="2889504"/>
            <a:ext cx="1078992" cy="804672"/>
          </a:xfrm>
          <a:prstGeom prst="rect">
            <a:avLst/>
          </a:prstGeom>
          <a:solidFill>
            <a:srgbClr val="C47B2B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144768" y="2919786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144768" y="3305022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900416" y="2880360"/>
            <a:ext cx="1078992" cy="804672"/>
          </a:xfrm>
          <a:prstGeom prst="rect">
            <a:avLst/>
          </a:prstGeom>
          <a:solidFill>
            <a:srgbClr val="C47B2B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900416" y="290779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900416" y="32918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389120" y="382219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389120" y="411480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Abstract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389120" y="427939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Introduction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389120" y="44439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Background Theory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389120" y="460857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Application of Technology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389120" y="477316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Literature Survey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389120" y="493776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Comparative Study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629400" y="411480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Motivation &amp; Problem Statement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629400" y="427939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Research Objectives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629400" y="444398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Proposed Methodology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29400" y="460857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Conclusion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629400" y="4773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References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Overview of the Study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2423160"/>
          </a:xfrm>
          <a:prstGeom prst="rect">
            <a:avLst/>
          </a:prstGeom>
          <a:solidFill>
            <a:srgbClr val="3D1C0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91440" cy="242316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47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8138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 comprehensive analysis of coffee shop sales data comprising 149,116 transaction records across three New York City store locations (January–June 2023). Using Python-based data analytics — Pandas, NumPy, Matplotlib, Seaborn, and Statsmodels — the study uncovers revenue patterns, peak hours, and top-performing products. An ARIMA(2,1,2) forecasting model achieves 95.2% accuracy (MAPE: 4.8%), enabling data-driven staffing, inventory, and marketing decisions.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4343400"/>
            <a:ext cx="2057400" cy="658368"/>
          </a:xfrm>
          <a:prstGeom prst="rect">
            <a:avLst/>
          </a:prstGeom>
          <a:solidFill>
            <a:srgbClr val="C47B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435254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$698K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4320" y="467258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68880" y="4343400"/>
            <a:ext cx="2057400" cy="658368"/>
          </a:xfrm>
          <a:prstGeom prst="rect">
            <a:avLst/>
          </a:prstGeom>
          <a:solidFill>
            <a:srgbClr val="C47B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68880" y="435254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95.2%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468880" y="467258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4343400"/>
            <a:ext cx="2057400" cy="658368"/>
          </a:xfrm>
          <a:prstGeom prst="rect">
            <a:avLst/>
          </a:prstGeom>
          <a:solidFill>
            <a:srgbClr val="C47B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435254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63440" y="467258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0" y="4343400"/>
            <a:ext cx="2057400" cy="658368"/>
          </a:xfrm>
          <a:prstGeom prst="rect">
            <a:avLst/>
          </a:prstGeom>
          <a:solidFill>
            <a:srgbClr val="C47B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58000" y="435254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58000" y="467258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Share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Setting the Stage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886200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coffee shop market valued at $238 Billion in 2023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of 5.5% projected through 2030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café culture growth in urban India &amp; Asia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High-volume, low-margin business model (net margin 5–15%)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systems capture every transaction with full detail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 now critical for competitiveness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analytics democratizes insights for all sizes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42976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4297680" cy="347472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17720" y="11704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572768"/>
            <a:ext cx="4114800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149,116 real-world coffee shop transactions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store locations — Hell's Kitchen, Astoria, Lower Manhattan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period: January to June 2023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unique products across multiple categories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EDA → Visualization → Forecasting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model deployment via Flask web application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 for business improvement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+ Data Science = Smarter Business Decisions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THEORY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Foundational Concepts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251960" cy="384048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24358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 Analytics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WHAT happened — total revenue, top products, average transaction value. Foundation of all analysis.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251960" cy="384048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18888" y="124358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Analytics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64208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WHAT WILL happen — ARIMA time-series model predicts future daily revenue with 95.2% accuracy.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4251960" cy="384048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" y="31638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Visualization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584448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 bar charts, pie charts &amp; trend lines convert raw numbers into clear, actionable visual insights.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108960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4251960" cy="384048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18888" y="31638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Ecosystem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584448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Matplotlib · Seaborn · Scikit-learn · Statsmodels — open-source, powerful, free.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solidFill>
            <a:srgbClr val="1A0A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47823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64792" y="47823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9544" y="47823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54296" y="47823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99048" y="47823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43800" y="47823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OF TECHNOLOGY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Tools &amp; Tech Stack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251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73152" cy="86868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2161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C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3.10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234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General-purpose, readable, dominant in data science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251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73152" cy="868680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92040" y="12161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 1.5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1234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15544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operations, groupby, datetime feature engineering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30552"/>
            <a:ext cx="4251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130552"/>
            <a:ext cx="73152" cy="86868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21762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 1.23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2194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514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operations, statistical calculations, IQR outlier detection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130552"/>
            <a:ext cx="4251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09160" y="2130552"/>
            <a:ext cx="73152" cy="868680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92040" y="21762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194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Visualization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2514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charts, bar charts, pie charts, figure customization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090672"/>
            <a:ext cx="4251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3090672"/>
            <a:ext cx="73152" cy="86868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200" y="31363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C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Seaborn 0.12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68880" y="3154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34747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 box plots, correlation matrices, distribution plots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090672"/>
            <a:ext cx="4251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09160" y="3090672"/>
            <a:ext cx="73152" cy="868680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92040" y="31363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Statsmodels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03720" y="3154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Modeling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34747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ARIMA(2,1,2) model, AIC parameter selection, diagnostics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050792"/>
            <a:ext cx="4251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74320" y="4050792"/>
            <a:ext cx="73152" cy="86868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7200" y="40965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468880" y="41148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434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Random Forest, RMSE/MAE evaluation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4050792"/>
            <a:ext cx="4251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709160" y="4050792"/>
            <a:ext cx="73152" cy="868680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892040" y="40965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 2.2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03720" y="41148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Deployment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92040" y="4434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dashboard web app on localhost:5000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74320" y="483717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Jupyter Notebook 6.5  ·  VS Code 1.85  ·  Anaconda 23.1  ·  Git 2.39  ·  Windows 11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Review of Related Research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91440" cy="713232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12161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Smith, Brown &amp; Taylor (2020)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4264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 for Café Sales Using ARIMA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261872"/>
            <a:ext cx="18288" cy="530352"/>
          </a:xfrm>
          <a:prstGeom prst="rect">
            <a:avLst/>
          </a:prstGeom>
          <a:solidFill>
            <a:srgbClr val="E8D5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01568" y="1243584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ARIMA achieves 6.3% MAPE. Morning hours (7–10 AM) universally peak. 18% staffing cost reduction possible.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94767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1947672"/>
            <a:ext cx="91440" cy="713232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 &amp; Patel (2021)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22037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in Coffee Retail Using K-Means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2039112"/>
            <a:ext cx="18288" cy="530352"/>
          </a:xfrm>
          <a:prstGeom prst="rect">
            <a:avLst/>
          </a:prstGeom>
          <a:solidFill>
            <a:srgbClr val="E8D5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01568" y="2020824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3 segments: morning commuters, afternoon workers, weekend visitors. ATV increased 22% with targeted offers.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2491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2724912"/>
            <a:ext cx="91440" cy="713232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" y="27706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(2022)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" y="29809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 in Food Service Transactions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2816352"/>
            <a:ext cx="18288" cy="530352"/>
          </a:xfrm>
          <a:prstGeom prst="rect">
            <a:avLst/>
          </a:prstGeom>
          <a:solidFill>
            <a:srgbClr val="E8D5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01568" y="2798064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68% espresso buyers also buy bakery items. Bundle strategy increased ATV by 15% in pilot.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0215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502152"/>
            <a:ext cx="91440" cy="713232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" y="35478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&amp; Wang (2023)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" y="37581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Analytics for Coffee Chains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3593592"/>
            <a:ext cx="18288" cy="530352"/>
          </a:xfrm>
          <a:prstGeom prst="rect">
            <a:avLst/>
          </a:prstGeom>
          <a:solidFill>
            <a:srgbClr val="E8D5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01568" y="3575304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Stores near transit hubs earn 40% more morning revenue. Demographics influence product mix significantly.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27939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74320" y="4279392"/>
            <a:ext cx="91440" cy="713232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" y="43251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&amp; Joshi (2023)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" y="453542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in Independent Coffee Shops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91840" y="4370832"/>
            <a:ext cx="18288" cy="530352"/>
          </a:xfrm>
          <a:prstGeom prst="rect">
            <a:avLst/>
          </a:prstGeom>
          <a:solidFill>
            <a:srgbClr val="E8D5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401568" y="4352544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Only 23% of owners analyze POS data. Those who do see 78% improvement in profitability within 6 months.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STUDY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Traditional vs. Data-Driven Approach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920240" cy="384048"/>
          </a:xfrm>
          <a:prstGeom prst="rect">
            <a:avLst/>
          </a:prstGeom>
          <a:solidFill>
            <a:srgbClr val="3D1C02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38328" y="11430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115568"/>
            <a:ext cx="2194560" cy="384048"/>
          </a:xfrm>
          <a:prstGeom prst="rect">
            <a:avLst/>
          </a:prstGeom>
          <a:solidFill>
            <a:srgbClr val="3D1C02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258568" y="11430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115568"/>
            <a:ext cx="2560320" cy="384048"/>
          </a:xfrm>
          <a:prstGeom prst="rect">
            <a:avLst/>
          </a:prstGeom>
          <a:solidFill>
            <a:srgbClr val="3D1C02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53128" y="11430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Approach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1115568"/>
            <a:ext cx="1737360" cy="384048"/>
          </a:xfrm>
          <a:prstGeom prst="rect">
            <a:avLst/>
          </a:prstGeom>
          <a:solidFill>
            <a:srgbClr val="3D1C02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013448" y="114300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499616"/>
            <a:ext cx="192024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38328" y="15270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Tracking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94560" y="1499616"/>
            <a:ext cx="219456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258568" y="1527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weekly summaries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0" y="1499616"/>
            <a:ext cx="256032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453128" y="152704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real-time dashboards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9440" y="1499616"/>
            <a:ext cx="173736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13448" y="152704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time reduction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1883664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8328" y="191109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94560" y="1883664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258568" y="191109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Experience-based guessing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89120" y="1883664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453128" y="19110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analysis from data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49440" y="1883664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013448" y="191109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18–25% cost saving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2267712"/>
            <a:ext cx="192024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8328" y="22951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94560" y="2267712"/>
            <a:ext cx="219456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258568" y="229514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inspection &amp; intuition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89120" y="2267712"/>
            <a:ext cx="256032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453128" y="2295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models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49440" y="2267712"/>
            <a:ext cx="173736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013448" y="22951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 waste reduction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2651760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38328" y="26791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Engineering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194560" y="2651760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258568" y="267919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manual review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89120" y="2651760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453128" y="26791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analysis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949440" y="2651760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013448" y="267919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 revenue gain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3035808"/>
            <a:ext cx="192024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38328" y="30632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194560" y="3035808"/>
            <a:ext cx="219456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258568" y="306324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intuition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389120" y="3035808"/>
            <a:ext cx="256032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453128" y="3063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pattern analysis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949440" y="3035808"/>
            <a:ext cx="173736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013448" y="306324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28–34% higher response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3419856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38328" y="34472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194560" y="3419856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258568" y="344728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monthly estimates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389120" y="3419856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453128" y="34472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(95.2% accuracy)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949440" y="3419856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013448" y="344728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better accuracy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74320" y="3803904"/>
            <a:ext cx="192024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338328" y="38313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Speed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194560" y="3803904"/>
            <a:ext cx="219456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2258568" y="383133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weeks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389120" y="3803904"/>
            <a:ext cx="256032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453128" y="38313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real-time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949440" y="3803904"/>
            <a:ext cx="1737360" cy="384048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7013448" y="383133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faster decisions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65760" y="483717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approaches consistently deliver 15–40% improvements across every operational dimension of coffee shop management.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 &amp; 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Why This Project Matters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896112"/>
          </a:xfrm>
          <a:prstGeom prst="rect">
            <a:avLst/>
          </a:prstGeom>
          <a:solidFill>
            <a:srgbClr val="3D1C0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1338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PROBLEM STATEMENT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shops generate large volumes of transactional data daily, yet this data is rarely analyzed beyond basic summaries. As a result, managers lack insights for product performance, staffing optimization, inventory management, and forecasting — leaving significant revenue potential unrealized.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2816352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2121408"/>
            <a:ext cx="2816352" cy="320040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21579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Product Visibility Gap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505456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clarity on which items drive revenue — menus not optimized for profit.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112" y="2121408"/>
            <a:ext cx="2816352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182112" y="2121408"/>
            <a:ext cx="2816352" cy="320040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21579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Inefficient Staffing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73552" y="2505456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Overstaffing in slow periods &amp; understaffing during peak morning rush hours.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2121408"/>
            <a:ext cx="2816352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089904" y="2121408"/>
            <a:ext cx="2816352" cy="320040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81344" y="21579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Inventory Wastage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81344" y="2505456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goods over/under-ordered without demand data — direct financial loss.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419856"/>
            <a:ext cx="2816352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" y="3419856"/>
            <a:ext cx="2816352" cy="32004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5760" y="345643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Missed Trend Awareness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803904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dips arrive as surprises; growth opportunities go unrecognized.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82112" y="3419856"/>
            <a:ext cx="2816352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182112" y="3419856"/>
            <a:ext cx="2816352" cy="32004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73552" y="345643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No Revenue Forecasting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73552" y="3803904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flow, investment &amp; budget planning done on guesswork, not models.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9904" y="3419856"/>
            <a:ext cx="2816352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089904" y="3419856"/>
            <a:ext cx="2816352" cy="32004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81344" y="345643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Lost Cross-Sell Revenue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81344" y="3803904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associations unknown — bundle opportunities missed at every transaction.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What We Aim to Achieve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475488" cy="749808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18872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4904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149K records: remove duplicates, fix types, engineer hour/day/month/revenue features.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475488" cy="749808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09160" y="134416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57800" y="118872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57800" y="14904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descriptive statistics: mean, median, std dev, percentiles for all key variables.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47672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1947672"/>
            <a:ext cx="475488" cy="749808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214884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19933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Analysis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229514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top products and categories by revenue, units sold, and average transaction value.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947672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09160" y="1947672"/>
            <a:ext cx="475488" cy="749808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09160" y="214884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57800" y="19933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 &amp; Day Analysis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57800" y="229514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high-traffic periods for optimal staffing and promotional timing decisions.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752344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2752344"/>
            <a:ext cx="475488" cy="749808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295351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279806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Location Comparison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2960" y="30998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Hell's Kitchen, Astoria &amp; Lower Manhattan by revenue and product mix.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752344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09160" y="2752344"/>
            <a:ext cx="475488" cy="749808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09160" y="295351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257800" y="279806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Analysis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57800" y="30998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monthly growth patterns and seasonal fluctuations over 6-month period.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557016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74320" y="3557016"/>
            <a:ext cx="475488" cy="749808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74320" y="3758184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22960" y="360273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22960" y="39044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product associations, basket size, and frequency patterns for upselling.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557016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709160" y="3557016"/>
            <a:ext cx="475488" cy="749808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09160" y="3758184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257800" y="360273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Model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257800" y="39044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ARIMA(2,1,2) model achieving MAPE &lt; 5% for daily revenue prediction.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361688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274320" y="4361688"/>
            <a:ext cx="475488" cy="749808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74320" y="456285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22960" y="44074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22960" y="47091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heatmaps, bar charts, trend lines and pie charts for clear insight communication.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4361688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709160" y="4361688"/>
            <a:ext cx="475488" cy="749808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709160" y="456285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5257800" y="44074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257800" y="47091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8+ actionable strategies for menu, staffing, inventory and loyalty programs.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METHODOLOGY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End-to-End Analytical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834640" cy="64008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243584"/>
            <a:ext cx="475488" cy="475488"/>
          </a:xfrm>
          <a:prstGeom prst="lin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883664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149,116 POS records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NYC store locations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Jan–Jun 2023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2011680"/>
            <a:ext cx="109728" cy="164592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18688" y="1170432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18688" y="1170432"/>
            <a:ext cx="2834640" cy="640080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310128" y="1243584"/>
            <a:ext cx="475488" cy="475488"/>
          </a:xfrm>
          <a:prstGeom prst="lin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10128" y="126187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58768" y="128016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55848" y="1883664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234 duplicates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conversion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53328" y="2011680"/>
            <a:ext cx="109728" cy="164592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63056" y="1170432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63056" y="1170432"/>
            <a:ext cx="2834640" cy="64008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254496" y="1243584"/>
            <a:ext cx="475488" cy="475488"/>
          </a:xfrm>
          <a:prstGeom prst="lin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54496" y="126187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03136" y="128016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0216" y="1883664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study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090672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3090672"/>
            <a:ext cx="2834640" cy="640080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" y="3163824"/>
            <a:ext cx="475488" cy="475488"/>
          </a:xfrm>
          <a:prstGeom prst="lin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5760" y="318211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320040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Visualization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3803904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 bar charts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lines, pie charts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comparisons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108960" y="3931920"/>
            <a:ext cx="109728" cy="164592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218688" y="3090672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218688" y="3090672"/>
            <a:ext cx="2834640" cy="64008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310128" y="3163824"/>
            <a:ext cx="475488" cy="475488"/>
          </a:xfrm>
          <a:prstGeom prst="lin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310128" y="318211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858768" y="320040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Modeling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55848" y="3803904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ARIMA(2,1,2) model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RF benchmarks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parameter tuning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53328" y="3931920"/>
            <a:ext cx="109728" cy="164592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163056" y="3090672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163056" y="3090672"/>
            <a:ext cx="2834640" cy="640080"/>
          </a:xfrm>
          <a:prstGeom prst="rect">
            <a:avLst/>
          </a:prstGeom>
          <a:solidFill>
            <a:srgbClr val="6B3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254496" y="3163824"/>
            <a:ext cx="475488" cy="475488"/>
          </a:xfrm>
          <a:prstGeom prst="lin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254496" y="3182112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03136" y="320040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&amp; Recommend.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00216" y="3803904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95.2% accuracy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business strategies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" y="4818888"/>
            <a:ext cx="8595360" cy="228600"/>
          </a:xfrm>
          <a:prstGeom prst="rect">
            <a:avLst/>
          </a:prstGeom>
          <a:solidFill>
            <a:srgbClr val="1A0A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149,116 rows · 11 columns · $698,812 total revenue · 87 products · Train:Test = 80:20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DATA INSIGHTS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What the Data Revealed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115568"/>
          <a:ext cx="47548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074920" y="1115568"/>
          <a:ext cx="38404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657600"/>
            <a:ext cx="2057400" cy="1389888"/>
          </a:xfrm>
          <a:prstGeom prst="rect">
            <a:avLst/>
          </a:prstGeom>
          <a:solidFill>
            <a:srgbClr val="3D1C0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274320" y="374904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$91,406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274320" y="429768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Espresso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Product Revenue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468880" y="3657600"/>
            <a:ext cx="2057400" cy="1389888"/>
          </a:xfrm>
          <a:prstGeom prst="rect">
            <a:avLst/>
          </a:prstGeom>
          <a:solidFill>
            <a:srgbClr val="6B3A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2468880" y="374904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8–10 AM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468880" y="429768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Peak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Window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63440" y="3657600"/>
            <a:ext cx="2057400" cy="1389888"/>
          </a:xfrm>
          <a:prstGeom prst="rect">
            <a:avLst/>
          </a:prstGeom>
          <a:solidFill>
            <a:srgbClr val="3D1C0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663440" y="374904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&lt;3%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663440" y="429768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Revenue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858000" y="3657600"/>
            <a:ext cx="2057400" cy="1389888"/>
          </a:xfrm>
          <a:prstGeom prst="rect">
            <a:avLst/>
          </a:prstGeom>
          <a:solidFill>
            <a:srgbClr val="6B3A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858000" y="374904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858000" y="429768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Model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Score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" y="8906"/>
            <a:ext cx="3840480" cy="5143500"/>
          </a:xfrm>
          <a:prstGeom prst="rect">
            <a:avLst/>
          </a:prstGeom>
          <a:solidFill>
            <a:srgbClr val="3D1C0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C47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80467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Summary &amp; Recommendations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1115568"/>
            <a:ext cx="3383280" cy="36576"/>
          </a:xfrm>
          <a:prstGeom prst="rect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12344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5361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Revenue grew 104% from Jan to Jun 2023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9385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Coffee + Tea = 67% of total 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34086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Barista Espresso: #1 product at $91,406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27432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Peak hours: 8–10 AM across all stores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314553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3 stores within 3% revenue variance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354787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ARIMA model: 95.2% forecasting accuracy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" y="395020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68% espresso buyers also buy bakery items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0" y="25603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23360" y="685800"/>
            <a:ext cx="4892040" cy="658368"/>
          </a:xfrm>
          <a:prstGeom prst="rect">
            <a:avLst/>
          </a:prstGeom>
          <a:solidFill>
            <a:srgbClr val="2A0E0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069080" y="777240"/>
            <a:ext cx="457200" cy="457200"/>
          </a:xfrm>
          <a:prstGeom prst="line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069080" y="7955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7315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Loyalty Program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101498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8–10 AM peak with reward points for repeat visits.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23360" y="1399032"/>
            <a:ext cx="4892040" cy="658368"/>
          </a:xfrm>
          <a:prstGeom prst="rect">
            <a:avLst/>
          </a:prstGeom>
          <a:solidFill>
            <a:srgbClr val="1A0A0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069080" y="1490472"/>
            <a:ext cx="457200" cy="457200"/>
          </a:xfrm>
          <a:prstGeom prst="line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069080" y="150876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144475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 + Bakery Bundles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17720" y="172821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offer: 68% of espresso buyers also purchase bakery.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23360" y="2112264"/>
            <a:ext cx="4892040" cy="658368"/>
          </a:xfrm>
          <a:prstGeom prst="rect">
            <a:avLst/>
          </a:prstGeom>
          <a:solidFill>
            <a:srgbClr val="2A0E0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069080" y="2203704"/>
            <a:ext cx="457200" cy="457200"/>
          </a:xfrm>
          <a:prstGeom prst="line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069080" y="22219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2157984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Staffing Plan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17720" y="244144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staff on Mon/Fri mornings; lean on slow afternoons.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023360" y="2825496"/>
            <a:ext cx="4892040" cy="658368"/>
          </a:xfrm>
          <a:prstGeom prst="rect">
            <a:avLst/>
          </a:prstGeom>
          <a:solidFill>
            <a:srgbClr val="1A0A0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069080" y="2916936"/>
            <a:ext cx="457200" cy="457200"/>
          </a:xfrm>
          <a:prstGeom prst="line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069080" y="293522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17720" y="287121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Tea Menu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17720" y="31546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= 28% revenue with growing demand — add premium options.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023360" y="3538728"/>
            <a:ext cx="4892040" cy="658368"/>
          </a:xfrm>
          <a:prstGeom prst="rect">
            <a:avLst/>
          </a:prstGeom>
          <a:solidFill>
            <a:srgbClr val="2A0E0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069080" y="3630168"/>
            <a:ext cx="457200" cy="457200"/>
          </a:xfrm>
          <a:prstGeom prst="line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069080" y="364845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17720" y="358444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Promotions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17720" y="386791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Jan–Jun growth momentum throughout the full year.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023360" y="4251960"/>
            <a:ext cx="4892040" cy="658368"/>
          </a:xfrm>
          <a:prstGeom prst="rect">
            <a:avLst/>
          </a:prstGeom>
          <a:solidFill>
            <a:srgbClr val="1A0A0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069080" y="4343400"/>
            <a:ext cx="457200" cy="457200"/>
          </a:xfrm>
          <a:prstGeom prst="line">
            <a:avLst/>
          </a:prstGeom>
          <a:solidFill>
            <a:srgbClr val="C4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069080" y="436168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17720" y="429768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ARIMA-Based Forecasting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617720" y="458114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web app for daily revenue &amp; inventory predictions.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7B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C0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Sources &amp; Tools Used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411480" cy="457200"/>
          </a:xfrm>
          <a:prstGeom prst="rect">
            <a:avLst/>
          </a:prstGeom>
          <a:solidFill>
            <a:srgbClr val="6B3A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4358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225296"/>
            <a:ext cx="8001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Smith, J., Brown, A., &amp; Taylor, C. (2020). Time-Series Forecasting for Café Sales Using ARIMA Models. Journal of Food Business Research, 23(2), 145–162.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673352"/>
            <a:ext cx="8595360" cy="457200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73352"/>
            <a:ext cx="411480" cy="457200"/>
          </a:xfrm>
          <a:prstGeom prst="rect">
            <a:avLst/>
          </a:prstGeom>
          <a:solidFill>
            <a:srgbClr val="6B3A2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465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728216"/>
            <a:ext cx="8001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Johnson, M. &amp; Patel, R. (2021). Customer Segmentation in Coffee Retail Using K-Means Clustering. International Journal of Data Analytics, 8(1), 78–94.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76272"/>
            <a:ext cx="411480" cy="457200"/>
          </a:xfrm>
          <a:prstGeom prst="rect">
            <a:avLst/>
          </a:prstGeom>
          <a:solidFill>
            <a:srgbClr val="6B3A2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24942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2231136"/>
            <a:ext cx="8001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Kumar, S. (2022). Association Rule Mining in Food Service Transactions. Applied Data Science Review, 5(3), 201–215.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679192"/>
            <a:ext cx="8595360" cy="457200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679192"/>
            <a:ext cx="411480" cy="457200"/>
          </a:xfrm>
          <a:prstGeom prst="rect">
            <a:avLst/>
          </a:prstGeom>
          <a:solidFill>
            <a:srgbClr val="6B3A2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75234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2734056"/>
            <a:ext cx="8001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Lee, H. &amp; Wang, X. (2023). Multi-Location Retail Analytics for Coffee Chains. Journal of Retail Analytics, 11(1), 33–51.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182112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182112"/>
            <a:ext cx="411480" cy="457200"/>
          </a:xfrm>
          <a:prstGeom prst="rect">
            <a:avLst/>
          </a:prstGeom>
          <a:solidFill>
            <a:srgbClr val="6B3A2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25526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236976"/>
            <a:ext cx="8001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Sharma, P. &amp; Joshi, A. (2023). Digital Transformation in Independent Coffee Shops. International Journal of Hospitality Management, 18(1), 44–60.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685032"/>
            <a:ext cx="8595360" cy="457200"/>
          </a:xfrm>
          <a:prstGeom prst="rect">
            <a:avLst/>
          </a:prstGeom>
          <a:solidFill>
            <a:srgbClr val="F0E0C8"/>
          </a:solidFill>
          <a:ln w="6350">
            <a:solidFill>
              <a:srgbClr val="E8D5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685032"/>
            <a:ext cx="411480" cy="457200"/>
          </a:xfrm>
          <a:prstGeom prst="rect">
            <a:avLst/>
          </a:prstGeom>
          <a:solidFill>
            <a:srgbClr val="6B3A2A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75818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3739896"/>
            <a:ext cx="8001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McKinney, W. (2022). Python for Data Analysis, 3rd Edition. O'Reilly Media, Sebastopol, CA.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187952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187952"/>
            <a:ext cx="411480" cy="457200"/>
          </a:xfrm>
          <a:prstGeom prst="rect">
            <a:avLst/>
          </a:prstGeom>
          <a:solidFill>
            <a:srgbClr val="6B3A2A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261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4242816"/>
            <a:ext cx="8001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Box, G.E.P., Jenkins, G.M., &amp; Reinsel, G.C. (2015). Time Series Analysis: Forecasting and Control, 5th Edition. Wiley.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solidFill>
            <a:srgbClr val="3D1C0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4709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USED IN THIS PROJECT: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17520" y="47091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(OpenAI)  —  Content drafting, research summarization &amp; academic writing assistance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47091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(gamma.app)  —  Professional presentation design &amp; document generation platform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"/>
            <a:ext cx="9144000" cy="5143500"/>
          </a:xfrm>
          <a:prstGeom prst="rect">
            <a:avLst/>
          </a:prstGeom>
          <a:solidFill>
            <a:srgbClr val="1A0A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0" y="457200"/>
            <a:ext cx="2743200" cy="2743200"/>
          </a:xfrm>
          <a:prstGeom prst="line">
            <a:avLst/>
          </a:prstGeom>
          <a:solidFill>
            <a:srgbClr val="C47B2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0" y="3200400"/>
            <a:ext cx="1828800" cy="1828800"/>
          </a:xfrm>
          <a:prstGeom prst="line">
            <a:avLst/>
          </a:prstGeom>
          <a:solidFill>
            <a:srgbClr val="6B3A2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14400" y="2167128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1845</Words>
  <Application>Microsoft Office PowerPoint</Application>
  <PresentationFormat>On-screen Show (16:9)</PresentationFormat>
  <Paragraphs>309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Georgia</vt:lpstr>
      <vt:lpstr>Times New Roman</vt:lpstr>
      <vt:lpstr>Office Theme</vt:lpstr>
      <vt:lpstr>Coffee Shop Sales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Shop Sales Analysis</dc:title>
  <dc:subject>PptxGenJS Presentation</dc:subject>
  <dc:creator>Gujarat University</dc:creator>
  <cp:lastModifiedBy>PRIYANSH CHAUHAN</cp:lastModifiedBy>
  <cp:revision>4</cp:revision>
  <dcterms:created xsi:type="dcterms:W3CDTF">2026-04-15T11:44:39Z</dcterms:created>
  <dcterms:modified xsi:type="dcterms:W3CDTF">2026-04-17T05:19:32Z</dcterms:modified>
</cp:coreProperties>
</file>